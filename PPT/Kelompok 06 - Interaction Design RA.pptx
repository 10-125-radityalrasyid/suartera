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" charset="1" panose="020B0502030000000004"/>
      <p:regular r:id="rId14"/>
    </p:embeddedFont>
    <p:embeddedFont>
      <p:font typeface="Fredoka" charset="1" panose="020000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39433"/>
            <a:ext cx="18288000" cy="2676937"/>
            <a:chOff x="0" y="0"/>
            <a:chExt cx="4816593" cy="705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5037"/>
            </a:xfrm>
            <a:custGeom>
              <a:avLst/>
              <a:gdLst/>
              <a:ahLst/>
              <a:cxnLst/>
              <a:rect r="r" b="b" t="t" l="l"/>
              <a:pathLst>
                <a:path h="7050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5037"/>
                  </a:lnTo>
                  <a:lnTo>
                    <a:pt x="0" y="705037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62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  <a:r>
                <a:rPr lang="en-US" sz="254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62591" y="-988210"/>
            <a:ext cx="5762818" cy="3296724"/>
            <a:chOff x="0" y="0"/>
            <a:chExt cx="1517779" cy="868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7779" cy="868273"/>
            </a:xfrm>
            <a:custGeom>
              <a:avLst/>
              <a:gdLst/>
              <a:ahLst/>
              <a:cxnLst/>
              <a:rect r="r" b="b" t="t" l="l"/>
              <a:pathLst>
                <a:path h="868273" w="1517779">
                  <a:moveTo>
                    <a:pt x="68515" y="0"/>
                  </a:moveTo>
                  <a:lnTo>
                    <a:pt x="1449265" y="0"/>
                  </a:lnTo>
                  <a:cubicBezTo>
                    <a:pt x="1487104" y="0"/>
                    <a:pt x="1517779" y="30675"/>
                    <a:pt x="1517779" y="68515"/>
                  </a:cubicBezTo>
                  <a:lnTo>
                    <a:pt x="1517779" y="799758"/>
                  </a:lnTo>
                  <a:cubicBezTo>
                    <a:pt x="1517779" y="817930"/>
                    <a:pt x="1510561" y="835357"/>
                    <a:pt x="1497712" y="848206"/>
                  </a:cubicBezTo>
                  <a:cubicBezTo>
                    <a:pt x="1484863" y="861055"/>
                    <a:pt x="1467436" y="868273"/>
                    <a:pt x="1449265" y="868273"/>
                  </a:cubicBezTo>
                  <a:lnTo>
                    <a:pt x="68515" y="868273"/>
                  </a:lnTo>
                  <a:cubicBezTo>
                    <a:pt x="30675" y="868273"/>
                    <a:pt x="0" y="837598"/>
                    <a:pt x="0" y="799758"/>
                  </a:cubicBezTo>
                  <a:lnTo>
                    <a:pt x="0" y="68515"/>
                  </a:lnTo>
                  <a:cubicBezTo>
                    <a:pt x="0" y="50343"/>
                    <a:pt x="7218" y="32917"/>
                    <a:pt x="20067" y="20067"/>
                  </a:cubicBezTo>
                  <a:cubicBezTo>
                    <a:pt x="32917" y="7218"/>
                    <a:pt x="50343" y="0"/>
                    <a:pt x="68515" y="0"/>
                  </a:cubicBez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17779" cy="925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903833" y="817982"/>
            <a:ext cx="638724" cy="792999"/>
          </a:xfrm>
          <a:custGeom>
            <a:avLst/>
            <a:gdLst/>
            <a:ahLst/>
            <a:cxnLst/>
            <a:rect r="r" b="b" t="t" l="l"/>
            <a:pathLst>
              <a:path h="792999" w="638724">
                <a:moveTo>
                  <a:pt x="0" y="0"/>
                </a:moveTo>
                <a:lnTo>
                  <a:pt x="638724" y="0"/>
                </a:lnTo>
                <a:lnTo>
                  <a:pt x="638724" y="792999"/>
                </a:lnTo>
                <a:lnTo>
                  <a:pt x="0" y="792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83054" y="3545793"/>
            <a:ext cx="11121892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68"/>
              </a:lnSpc>
            </a:pPr>
            <a:r>
              <a:rPr lang="en-US" sz="13307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SUARTERA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83054" y="7050993"/>
            <a:ext cx="11121892" cy="122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</a:pPr>
            <a:r>
              <a:rPr lang="en-US" sz="34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Perancangan UI/UX </a:t>
            </a:r>
          </a:p>
          <a:p>
            <a:pPr algn="ctr" marL="0" indent="0" lvl="0">
              <a:lnSpc>
                <a:spcPts val="4814"/>
              </a:lnSpc>
            </a:pPr>
            <a:r>
              <a:rPr lang="en-US" sz="34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 Pelaporan Fasilitas Kampus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08159" y="891156"/>
            <a:ext cx="2690781" cy="55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7"/>
              </a:lnSpc>
              <a:spcBef>
                <a:spcPct val="0"/>
              </a:spcBef>
            </a:pPr>
            <a:r>
              <a:rPr lang="en-US" b="true" sz="304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Kelompok 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902882"/>
            <a:ext cx="18288000" cy="2384118"/>
            <a:chOff x="0" y="0"/>
            <a:chExt cx="4816593" cy="62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27916"/>
            </a:xfrm>
            <a:custGeom>
              <a:avLst/>
              <a:gdLst/>
              <a:ahLst/>
              <a:cxnLst/>
              <a:rect r="r" b="b" t="t" l="l"/>
              <a:pathLst>
                <a:path h="6279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27916"/>
                  </a:lnTo>
                  <a:lnTo>
                    <a:pt x="0" y="627916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685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0087" y="3023408"/>
            <a:ext cx="907601" cy="9076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60"/>
                </a:lnSpc>
              </a:pPr>
              <a:r>
                <a:rPr lang="en-US" b="true" sz="3043">
                  <a:solidFill>
                    <a:srgbClr val="8B5F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6403" y="3477209"/>
            <a:ext cx="907601" cy="9076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60"/>
                </a:lnSpc>
              </a:pPr>
              <a:r>
                <a:rPr lang="en-US" b="true" sz="3043">
                  <a:solidFill>
                    <a:srgbClr val="8B5F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0087" y="4689699"/>
            <a:ext cx="907601" cy="9076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60"/>
                </a:lnSpc>
              </a:pPr>
              <a:r>
                <a:rPr lang="en-US" b="true" sz="3043">
                  <a:solidFill>
                    <a:srgbClr val="8B5F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76403" y="5842490"/>
            <a:ext cx="907601" cy="90760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60"/>
                </a:lnSpc>
              </a:pPr>
              <a:r>
                <a:rPr lang="en-US" b="true" sz="3043">
                  <a:solidFill>
                    <a:srgbClr val="8B5F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0087" y="6296291"/>
            <a:ext cx="907601" cy="90760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60"/>
                </a:lnSpc>
              </a:pPr>
              <a:r>
                <a:rPr lang="en-US" b="true" sz="3043">
                  <a:solidFill>
                    <a:srgbClr val="8B5F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07688" y="489953"/>
            <a:ext cx="14672623" cy="160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sz="9321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Anggota Kelompok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00479" y="2798283"/>
            <a:ext cx="5522483" cy="126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7"/>
              </a:lnSpc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Bening Apni Prameswari</a:t>
            </a:r>
          </a:p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123140089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95986" y="3252084"/>
            <a:ext cx="4884326" cy="126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Raisya Syifa Saleh</a:t>
            </a:r>
          </a:p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123140169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00479" y="6071166"/>
            <a:ext cx="5726694" cy="126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Raditya Alrasyid Nugroho</a:t>
            </a:r>
          </a:p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123140125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95986" y="5617365"/>
            <a:ext cx="4884326" cy="126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Muhamad Arif Ardani</a:t>
            </a:r>
          </a:p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123140186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00479" y="4464574"/>
            <a:ext cx="4884326" cy="126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Fanisa Aulia Safitri</a:t>
            </a:r>
          </a:p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3541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123140121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77664"/>
            <a:ext cx="18288000" cy="6445513"/>
            <a:chOff x="0" y="0"/>
            <a:chExt cx="4816593" cy="1697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697584"/>
            </a:xfrm>
            <a:custGeom>
              <a:avLst/>
              <a:gdLst/>
              <a:ahLst/>
              <a:cxnLst/>
              <a:rect r="r" b="b" t="t" l="l"/>
              <a:pathLst>
                <a:path h="16975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97584"/>
                  </a:lnTo>
                  <a:lnTo>
                    <a:pt x="0" y="1697584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1754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4160" y="2894993"/>
            <a:ext cx="17039680" cy="64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pelaporan fasilitas kampus masih dilakukan secara langsung dan manual, melalui  mendatangi Sarpras atau menghubungi helpdesk.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Akibatnya, laporan sering tidak tercatat dengan baik, sehingga proses penanganan menjadi lambat.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Tidak ada transparansi status laporan, membuat mahasiswa sulit memantau tindak lanjut dari laporan mereka.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Kurangnya sistem yang terintegrasi dan efisien menyebabkan komunikasi antara mahasiswa dan pengelola fasilitas tidak optimal.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Berbagai kerusakan fasilitas (lampu, AC, toilet, jaringan internet) sering terlambat diperbaiki dan mengganggu kenyamanan belajar.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Diperlukan penerapan User Centered Design (UCD) untuk merancang sistem digital yang mudah digunakan, transparan, dan sesuai kebutuhan mahasiswa.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7389" y="-698554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3"/>
                </a:lnTo>
                <a:lnTo>
                  <a:pt x="0" y="2730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1533" y="-698554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3"/>
                </a:lnTo>
                <a:lnTo>
                  <a:pt x="0" y="2730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03217" y="514293"/>
            <a:ext cx="11948316" cy="134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7"/>
              </a:lnSpc>
              <a:spcBef>
                <a:spcPct val="0"/>
              </a:spcBef>
            </a:pPr>
            <a:r>
              <a:rPr lang="en-US" sz="7869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Urgensi Permasalahan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4103" y="9085077"/>
            <a:ext cx="5461258" cy="45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002914"/>
            <a:ext cx="18288000" cy="3459362"/>
            <a:chOff x="0" y="0"/>
            <a:chExt cx="4816593" cy="911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11108"/>
            </a:xfrm>
            <a:custGeom>
              <a:avLst/>
              <a:gdLst/>
              <a:ahLst/>
              <a:cxnLst/>
              <a:rect r="r" b="b" t="t" l="l"/>
              <a:pathLst>
                <a:path h="9111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11108"/>
                  </a:lnTo>
                  <a:lnTo>
                    <a:pt x="0" y="911108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68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5460043"/>
            <a:ext cx="18288000" cy="3451179"/>
            <a:chOff x="0" y="0"/>
            <a:chExt cx="4816593" cy="908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908953"/>
            </a:xfrm>
            <a:custGeom>
              <a:avLst/>
              <a:gdLst/>
              <a:ahLst/>
              <a:cxnLst/>
              <a:rect r="r" b="b" t="t" l="l"/>
              <a:pathLst>
                <a:path h="9089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08953"/>
                  </a:lnTo>
                  <a:lnTo>
                    <a:pt x="0" y="90895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966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154" y="251777"/>
            <a:ext cx="12480974" cy="140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79"/>
              </a:lnSpc>
              <a:spcBef>
                <a:spcPct val="0"/>
              </a:spcBef>
            </a:pPr>
            <a:r>
              <a:rPr lang="en-US" sz="8199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Progres Hingga Saat Ini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24578" y="9187447"/>
            <a:ext cx="2017463" cy="2030152"/>
          </a:xfrm>
          <a:custGeom>
            <a:avLst/>
            <a:gdLst/>
            <a:ahLst/>
            <a:cxnLst/>
            <a:rect r="r" b="b" t="t" l="l"/>
            <a:pathLst>
              <a:path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86806" y="-1015076"/>
            <a:ext cx="2017463" cy="2030152"/>
          </a:xfrm>
          <a:custGeom>
            <a:avLst/>
            <a:gdLst/>
            <a:ahLst/>
            <a:cxnLst/>
            <a:rect r="r" b="b" t="t" l="l"/>
            <a:pathLst>
              <a:path h="2030152" w="2017463">
                <a:moveTo>
                  <a:pt x="0" y="0"/>
                </a:moveTo>
                <a:lnTo>
                  <a:pt x="2017463" y="0"/>
                </a:lnTo>
                <a:lnTo>
                  <a:pt x="2017463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5451860"/>
            <a:ext cx="18288000" cy="3459362"/>
            <a:chOff x="0" y="0"/>
            <a:chExt cx="4816593" cy="9111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911108"/>
            </a:xfrm>
            <a:custGeom>
              <a:avLst/>
              <a:gdLst/>
              <a:ahLst/>
              <a:cxnLst/>
              <a:rect r="r" b="b" t="t" l="l"/>
              <a:pathLst>
                <a:path h="9111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11108"/>
                  </a:lnTo>
                  <a:lnTo>
                    <a:pt x="0" y="911108"/>
                  </a:lnTo>
                  <a:close/>
                </a:path>
              </a:pathLst>
            </a:custGeom>
            <a:solidFill>
              <a:srgbClr val="FFDC9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816593" cy="968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2895" y="3802447"/>
            <a:ext cx="17522211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563C08"/>
                </a:solidFill>
                <a:latin typeface="Inter Bold"/>
                <a:ea typeface="Inter Bold"/>
                <a:cs typeface="Inter Bold"/>
                <a:sym typeface="Inter Bold"/>
              </a:rPr>
              <a:t>Telah menyelesaikan pembuatan proposal proyek dengan judul </a:t>
            </a:r>
            <a:r>
              <a:rPr lang="en-US" b="true" sz="3499">
                <a:solidFill>
                  <a:srgbClr val="563C08"/>
                </a:solidFill>
                <a:latin typeface="Inter Bold"/>
                <a:ea typeface="Inter Bold"/>
                <a:cs typeface="Inter Bold"/>
                <a:sym typeface="Inter Bold"/>
              </a:rPr>
              <a:t>Suartera: Aplikasi Pelaporan Fasilitas Kampus.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2895" y="5502212"/>
            <a:ext cx="17522211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563C08"/>
                </a:solidFill>
                <a:latin typeface="Inter Bold"/>
                <a:ea typeface="Inter Bold"/>
                <a:cs typeface="Inter Bold"/>
                <a:sym typeface="Inter Bold"/>
              </a:rPr>
              <a:t>Menyebarkan kuesioner kepada mahasiswa untuk mengumpulkan data terkait kebutuhan dan pengalaman mereka dalam pelaporan fasilitas.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82895" y="2214946"/>
            <a:ext cx="17522211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563C08"/>
                </a:solidFill>
                <a:latin typeface="Inter Bold"/>
                <a:ea typeface="Inter Bold"/>
                <a:cs typeface="Inter Bold"/>
                <a:sym typeface="Inter Bold"/>
              </a:rPr>
              <a:t>Melakukan perubahan topik dari gamifikasi pembelajaran untuk siswa SD menjadi aplikasi pelaporan fasilitas kampus dengan target user mahasiswa.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2895" y="7377297"/>
            <a:ext cx="17522211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563C08"/>
                </a:solidFill>
                <a:latin typeface="Inter Bold"/>
                <a:ea typeface="Inter Bold"/>
                <a:cs typeface="Inter Bold"/>
                <a:sym typeface="Inter Bold"/>
              </a:rPr>
              <a:t>Membuat desain awal di Figma untuk menggambarkan tampilan dan alur aplikasi yang akan dikembangkan.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2426" y="-1184202"/>
            <a:ext cx="7017226" cy="11963892"/>
            <a:chOff x="0" y="0"/>
            <a:chExt cx="1848158" cy="3150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8158" cy="3150984"/>
            </a:xfrm>
            <a:custGeom>
              <a:avLst/>
              <a:gdLst/>
              <a:ahLst/>
              <a:cxnLst/>
              <a:rect r="r" b="b" t="t" l="l"/>
              <a:pathLst>
                <a:path h="3150984" w="1848158">
                  <a:moveTo>
                    <a:pt x="0" y="0"/>
                  </a:moveTo>
                  <a:lnTo>
                    <a:pt x="1848158" y="0"/>
                  </a:lnTo>
                  <a:lnTo>
                    <a:pt x="1848158" y="3150984"/>
                  </a:lnTo>
                  <a:lnTo>
                    <a:pt x="0" y="3150984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48158" cy="320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8034" y="2355594"/>
            <a:ext cx="15761266" cy="6721570"/>
            <a:chOff x="0" y="0"/>
            <a:chExt cx="4151115" cy="1770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51116" cy="1770290"/>
            </a:xfrm>
            <a:custGeom>
              <a:avLst/>
              <a:gdLst/>
              <a:ahLst/>
              <a:cxnLst/>
              <a:rect r="r" b="b" t="t" l="l"/>
              <a:pathLst>
                <a:path h="1770290" w="4151116">
                  <a:moveTo>
                    <a:pt x="0" y="0"/>
                  </a:moveTo>
                  <a:lnTo>
                    <a:pt x="4151116" y="0"/>
                  </a:lnTo>
                  <a:lnTo>
                    <a:pt x="4151116" y="1770290"/>
                  </a:lnTo>
                  <a:lnTo>
                    <a:pt x="0" y="17702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151115" cy="1827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8034" y="2355594"/>
            <a:ext cx="956740" cy="6721570"/>
            <a:chOff x="0" y="0"/>
            <a:chExt cx="251981" cy="17702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981" cy="1770290"/>
            </a:xfrm>
            <a:custGeom>
              <a:avLst/>
              <a:gdLst/>
              <a:ahLst/>
              <a:cxnLst/>
              <a:rect r="r" b="b" t="t" l="l"/>
              <a:pathLst>
                <a:path h="1770290" w="251981">
                  <a:moveTo>
                    <a:pt x="0" y="0"/>
                  </a:moveTo>
                  <a:lnTo>
                    <a:pt x="251981" y="0"/>
                  </a:lnTo>
                  <a:lnTo>
                    <a:pt x="251981" y="1770290"/>
                  </a:lnTo>
                  <a:lnTo>
                    <a:pt x="0" y="1770290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1981" cy="1827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618754" y="568355"/>
            <a:ext cx="14379749" cy="129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90"/>
              </a:lnSpc>
              <a:spcBef>
                <a:spcPct val="0"/>
              </a:spcBef>
            </a:pPr>
            <a:r>
              <a:rPr lang="en-US" sz="7636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Progres Yang Belum Selesai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7548" y="2711289"/>
            <a:ext cx="14401752" cy="636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b="true" sz="4000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Analisis hasil kuesioner belum dilakukan secara menyeluruh.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b="true" sz="4000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Pembuatan user persona berdasarkan hasil kuesioner masih dalam proses.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b="true" sz="4000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Belum dilakukan uji coba desain (usability testing) terhadap pengguna.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b="true" sz="4000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Pembuatan prototype interaktif di Figma masih dalam tahap pengembangan.</a:t>
            </a:r>
          </a:p>
          <a:p>
            <a:pPr algn="l">
              <a:lnSpc>
                <a:spcPts val="560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40084" y="1595698"/>
            <a:ext cx="2017463" cy="2030152"/>
          </a:xfrm>
          <a:custGeom>
            <a:avLst/>
            <a:gdLst/>
            <a:ahLst/>
            <a:cxnLst/>
            <a:rect r="r" b="b" t="t" l="l"/>
            <a:pathLst>
              <a:path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81039" y="7920796"/>
            <a:ext cx="2017463" cy="2030152"/>
          </a:xfrm>
          <a:custGeom>
            <a:avLst/>
            <a:gdLst/>
            <a:ahLst/>
            <a:cxnLst/>
            <a:rect r="r" b="b" t="t" l="l"/>
            <a:pathLst>
              <a:path h="2030152" w="2017463">
                <a:moveTo>
                  <a:pt x="0" y="0"/>
                </a:moveTo>
                <a:lnTo>
                  <a:pt x="2017463" y="0"/>
                </a:lnTo>
                <a:lnTo>
                  <a:pt x="2017463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5502" y="0"/>
            <a:ext cx="225561" cy="10287000"/>
            <a:chOff x="0" y="0"/>
            <a:chExt cx="5940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407" cy="2709333"/>
            </a:xfrm>
            <a:custGeom>
              <a:avLst/>
              <a:gdLst/>
              <a:ahLst/>
              <a:cxnLst/>
              <a:rect r="r" b="b" t="t" l="l"/>
              <a:pathLst>
                <a:path h="2709333" w="59407">
                  <a:moveTo>
                    <a:pt x="0" y="0"/>
                  </a:moveTo>
                  <a:lnTo>
                    <a:pt x="59407" y="0"/>
                  </a:lnTo>
                  <a:lnTo>
                    <a:pt x="594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9407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03776" y="-838446"/>
            <a:ext cx="6329279" cy="11963892"/>
            <a:chOff x="0" y="0"/>
            <a:chExt cx="1666971" cy="3150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6971" cy="3150984"/>
            </a:xfrm>
            <a:custGeom>
              <a:avLst/>
              <a:gdLst/>
              <a:ahLst/>
              <a:cxnLst/>
              <a:rect r="r" b="b" t="t" l="l"/>
              <a:pathLst>
                <a:path h="3150984" w="1666971">
                  <a:moveTo>
                    <a:pt x="0" y="0"/>
                  </a:moveTo>
                  <a:lnTo>
                    <a:pt x="1666971" y="0"/>
                  </a:lnTo>
                  <a:lnTo>
                    <a:pt x="1666971" y="3150984"/>
                  </a:lnTo>
                  <a:lnTo>
                    <a:pt x="0" y="3150984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66971" cy="320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14543" y="4048702"/>
            <a:ext cx="10944757" cy="50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Mengolah dan menganalisis data hasil kuesioner.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Menyusun user persona dan user journey berdasarkan hasil analisis.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Melakukan penyempurnaan desain antarmuka (UI) dan alur pengguna (UX) di Figma.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Menyiapkan prototype interaktif untuk tahap usability testing.</a:t>
            </a:r>
          </a:p>
          <a:p>
            <a:pPr algn="l">
              <a:lnSpc>
                <a:spcPts val="447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2182977" y="3312901"/>
            <a:ext cx="3798154" cy="37981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5F0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82626" y="876300"/>
            <a:ext cx="8616075" cy="144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Rencana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2626" y="2226250"/>
            <a:ext cx="8616075" cy="144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Minggu Ini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981490" y="3975389"/>
            <a:ext cx="2201127" cy="2473177"/>
          </a:xfrm>
          <a:custGeom>
            <a:avLst/>
            <a:gdLst/>
            <a:ahLst/>
            <a:cxnLst/>
            <a:rect r="r" b="b" t="t" l="l"/>
            <a:pathLst>
              <a:path h="2473177" w="2201127">
                <a:moveTo>
                  <a:pt x="0" y="0"/>
                </a:moveTo>
                <a:lnTo>
                  <a:pt x="2201127" y="0"/>
                </a:lnTo>
                <a:lnTo>
                  <a:pt x="2201127" y="2473177"/>
                </a:lnTo>
                <a:lnTo>
                  <a:pt x="0" y="2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289881" y="-552140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974312" y="8394954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43311" y="948828"/>
            <a:ext cx="744689" cy="8389345"/>
            <a:chOff x="0" y="0"/>
            <a:chExt cx="196132" cy="2209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132" cy="2209539"/>
            </a:xfrm>
            <a:custGeom>
              <a:avLst/>
              <a:gdLst/>
              <a:ahLst/>
              <a:cxnLst/>
              <a:rect r="r" b="b" t="t" l="l"/>
              <a:pathLst>
                <a:path h="2209539" w="196132">
                  <a:moveTo>
                    <a:pt x="0" y="0"/>
                  </a:moveTo>
                  <a:lnTo>
                    <a:pt x="196132" y="0"/>
                  </a:lnTo>
                  <a:lnTo>
                    <a:pt x="196132" y="2209539"/>
                  </a:lnTo>
                  <a:lnTo>
                    <a:pt x="0" y="2209539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6132" cy="2266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28352" y="868955"/>
            <a:ext cx="9002441" cy="2382380"/>
            <a:chOff x="0" y="0"/>
            <a:chExt cx="2371013" cy="6274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1013" cy="627458"/>
            </a:xfrm>
            <a:custGeom>
              <a:avLst/>
              <a:gdLst/>
              <a:ahLst/>
              <a:cxnLst/>
              <a:rect r="r" b="b" t="t" l="l"/>
              <a:pathLst>
                <a:path h="627458" w="2371013">
                  <a:moveTo>
                    <a:pt x="0" y="0"/>
                  </a:moveTo>
                  <a:lnTo>
                    <a:pt x="2371013" y="0"/>
                  </a:lnTo>
                  <a:lnTo>
                    <a:pt x="2371013" y="627458"/>
                  </a:lnTo>
                  <a:lnTo>
                    <a:pt x="0" y="627458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71013" cy="68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28352" y="3419741"/>
            <a:ext cx="9002441" cy="2872052"/>
            <a:chOff x="0" y="0"/>
            <a:chExt cx="2371013" cy="7564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1013" cy="756425"/>
            </a:xfrm>
            <a:custGeom>
              <a:avLst/>
              <a:gdLst/>
              <a:ahLst/>
              <a:cxnLst/>
              <a:rect r="r" b="b" t="t" l="l"/>
              <a:pathLst>
                <a:path h="756425" w="2371013">
                  <a:moveTo>
                    <a:pt x="0" y="0"/>
                  </a:moveTo>
                  <a:lnTo>
                    <a:pt x="2371013" y="0"/>
                  </a:lnTo>
                  <a:lnTo>
                    <a:pt x="2371013" y="756425"/>
                  </a:lnTo>
                  <a:lnTo>
                    <a:pt x="0" y="756425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371013" cy="81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062440"/>
            <a:ext cx="5548966" cy="563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Kendala</a:t>
            </a:r>
          </a:p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Yang Dihadapi</a:t>
            </a:r>
          </a:p>
          <a:p>
            <a:pPr algn="l" marL="0" indent="0" lvl="0">
              <a:lnSpc>
                <a:spcPts val="11200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7828352" y="6531319"/>
            <a:ext cx="9002441" cy="2806854"/>
            <a:chOff x="0" y="0"/>
            <a:chExt cx="2371013" cy="7392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1013" cy="739254"/>
            </a:xfrm>
            <a:custGeom>
              <a:avLst/>
              <a:gdLst/>
              <a:ahLst/>
              <a:cxnLst/>
              <a:rect r="r" b="b" t="t" l="l"/>
              <a:pathLst>
                <a:path h="739254" w="2371013">
                  <a:moveTo>
                    <a:pt x="0" y="0"/>
                  </a:moveTo>
                  <a:lnTo>
                    <a:pt x="2371013" y="0"/>
                  </a:lnTo>
                  <a:lnTo>
                    <a:pt x="2371013" y="739254"/>
                  </a:lnTo>
                  <a:lnTo>
                    <a:pt x="0" y="739254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71013" cy="796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968" y="8561222"/>
            <a:ext cx="2017463" cy="2030152"/>
          </a:xfrm>
          <a:custGeom>
            <a:avLst/>
            <a:gdLst/>
            <a:ahLst/>
            <a:cxnLst/>
            <a:rect r="r" b="b" t="t" l="l"/>
            <a:pathLst>
              <a:path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1"/>
                </a:lnTo>
                <a:lnTo>
                  <a:pt x="0" y="2030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968" y="-677417"/>
            <a:ext cx="2017463" cy="2030152"/>
          </a:xfrm>
          <a:custGeom>
            <a:avLst/>
            <a:gdLst/>
            <a:ahLst/>
            <a:cxnLst/>
            <a:rect r="r" b="b" t="t" l="l"/>
            <a:pathLst>
              <a:path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303360" y="1295533"/>
            <a:ext cx="1918462" cy="2195665"/>
          </a:xfrm>
          <a:custGeom>
            <a:avLst/>
            <a:gdLst/>
            <a:ahLst/>
            <a:cxnLst/>
            <a:rect r="r" b="b" t="t" l="l"/>
            <a:pathLst>
              <a:path h="2195665" w="1918462">
                <a:moveTo>
                  <a:pt x="0" y="0"/>
                </a:moveTo>
                <a:lnTo>
                  <a:pt x="1918462" y="0"/>
                </a:lnTo>
                <a:lnTo>
                  <a:pt x="1918462" y="2195665"/>
                </a:lnTo>
                <a:lnTo>
                  <a:pt x="0" y="2195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151578" y="1728468"/>
            <a:ext cx="8294024" cy="126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4"/>
              </a:lnSpc>
              <a:spcBef>
                <a:spcPct val="0"/>
              </a:spcBef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karena akses terhadap siswa SD terbatas sehingga proses wawancara dan observasi tidak dapat dilakukan secara optimal.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51578" y="4789092"/>
            <a:ext cx="8294024" cy="126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4"/>
              </a:lnSpc>
              <a:spcBef>
                <a:spcPct val="0"/>
              </a:spcBef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sehingga kami memutuskan untuk mengganti topik menjadi aplikasi pelaporan fasilitas kampus yang lebih relevan.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51578" y="1052700"/>
            <a:ext cx="6246692" cy="52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4"/>
              </a:lnSpc>
              <a:spcBef>
                <a:spcPct val="0"/>
              </a:spcBef>
            </a:pPr>
            <a:r>
              <a:rPr lang="en-US" b="true" sz="2995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Kesulitan riset pada topik awal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51578" y="3603486"/>
            <a:ext cx="8383001" cy="104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4"/>
              </a:lnSpc>
              <a:spcBef>
                <a:spcPct val="0"/>
              </a:spcBef>
            </a:pPr>
            <a:r>
              <a:rPr lang="en-US" b="true" sz="2995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Kurangnya urgensi pada ide gamifikasi pembelajaran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51578" y="7795161"/>
            <a:ext cx="8917316" cy="16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terutama dalam mengolah hasil kuesioner dan menyesuaikan rancangan agar sesuai dengan</a:t>
            </a:r>
          </a:p>
          <a:p>
            <a:pPr algn="l">
              <a:lnSpc>
                <a:spcPts val="3354"/>
              </a:lnSpc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kebutuhan mahasiswa sebagai target pengguna baru.</a:t>
            </a:r>
          </a:p>
          <a:p>
            <a:pPr algn="l" marL="0" indent="0" lvl="0">
              <a:lnSpc>
                <a:spcPts val="3354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151578" y="6715064"/>
            <a:ext cx="7599586" cy="104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4"/>
              </a:lnSpc>
              <a:spcBef>
                <a:spcPct val="0"/>
              </a:spcBef>
            </a:pPr>
            <a:r>
              <a:rPr lang="en-US" b="true" sz="2995">
                <a:solidFill>
                  <a:srgbClr val="563C08"/>
                </a:solidFill>
                <a:latin typeface="Poppins Bold"/>
                <a:ea typeface="Poppins Bold"/>
                <a:cs typeface="Poppins Bold"/>
                <a:sym typeface="Poppins Bold"/>
              </a:rPr>
              <a:t>Keterbatasan waktu dan penyesuaian desain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39433"/>
            <a:ext cx="18288000" cy="2647567"/>
            <a:chOff x="0" y="0"/>
            <a:chExt cx="4816593" cy="697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97302"/>
            </a:xfrm>
            <a:custGeom>
              <a:avLst/>
              <a:gdLst/>
              <a:ahLst/>
              <a:cxnLst/>
              <a:rect r="r" b="b" t="t" l="l"/>
              <a:pathLst>
                <a:path h="697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7302"/>
                  </a:lnTo>
                  <a:lnTo>
                    <a:pt x="0" y="697302"/>
                  </a:lnTo>
                  <a:close/>
                </a:path>
              </a:pathLst>
            </a:custGeom>
            <a:solidFill>
              <a:srgbClr val="FFD0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54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83054" y="2343216"/>
            <a:ext cx="11121892" cy="563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07"/>
              </a:lnSpc>
            </a:pPr>
            <a:r>
              <a:rPr lang="en-US" sz="18506">
                <a:solidFill>
                  <a:srgbClr val="8B5F0B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046655" y="6702986"/>
            <a:ext cx="2141159" cy="1997401"/>
          </a:xfrm>
          <a:custGeom>
            <a:avLst/>
            <a:gdLst/>
            <a:ahLst/>
            <a:cxnLst/>
            <a:rect r="r" b="b" t="t" l="l"/>
            <a:pathLst>
              <a:path h="1997401" w="2141159">
                <a:moveTo>
                  <a:pt x="0" y="0"/>
                </a:moveTo>
                <a:lnTo>
                  <a:pt x="2141159" y="0"/>
                </a:lnTo>
                <a:lnTo>
                  <a:pt x="2141159" y="1997402"/>
                </a:lnTo>
                <a:lnTo>
                  <a:pt x="0" y="199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127652" y="1586612"/>
            <a:ext cx="2113693" cy="1997401"/>
          </a:xfrm>
          <a:custGeom>
            <a:avLst/>
            <a:gdLst/>
            <a:ahLst/>
            <a:cxnLst/>
            <a:rect r="r" b="b" t="t" l="l"/>
            <a:pathLst>
              <a:path h="1997401" w="2113693">
                <a:moveTo>
                  <a:pt x="0" y="0"/>
                </a:moveTo>
                <a:lnTo>
                  <a:pt x="2113693" y="0"/>
                </a:lnTo>
                <a:lnTo>
                  <a:pt x="2113693" y="1997402"/>
                </a:lnTo>
                <a:lnTo>
                  <a:pt x="0" y="1997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262591" y="9509622"/>
            <a:ext cx="57628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Interaction Design 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DAG4mSQt1VI</dc:identifier>
  <dcterms:modified xsi:type="dcterms:W3CDTF">2011-08-01T06:04:30Z</dcterms:modified>
  <cp:revision>1</cp:revision>
  <dc:title>Kelompok 06 - Interaction Design RA</dc:title>
</cp:coreProperties>
</file>